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4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14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5600" b="1" i="0">
                <a:solidFill>
                  <a:srgbClr val="FFFFFF"/>
                </a:solidFill>
                <a:latin typeface="Georgia"/>
              </a:defRPr>
            </a:pPr>
            <a:r>
              <a:t>ExpertERP</a:t>
            </a:r>
          </a:p>
          <a:p>
            <a:pPr algn="l">
              <a:spcAft>
                <a:spcPts val="200"/>
              </a:spcAft>
              <a:defRPr sz="2200" b="0" i="0">
                <a:solidFill>
                  <a:srgbClr val="DBEAFE"/>
                </a:solidFill>
                <a:latin typeface="Calibri"/>
              </a:defRPr>
            </a:pPr>
            <a:r>
              <a:t>La plateforme B2B de mise en relation</a:t>
            </a:r>
          </a:p>
          <a:p>
            <a:pPr algn="l">
              <a:spcAft>
                <a:spcPts val="2400"/>
              </a:spcAft>
              <a:defRPr sz="2200" b="0" i="0">
                <a:solidFill>
                  <a:srgbClr val="DBEAFE"/>
                </a:solidFill>
                <a:latin typeface="Calibri"/>
              </a:defRPr>
            </a:pPr>
            <a:r>
              <a:t>dédiée à l'écosystème ERP</a:t>
            </a:r>
          </a:p>
          <a:p>
            <a:pPr algn="l">
              <a:spcAft>
                <a:spcPts val="400"/>
              </a:spcAft>
              <a:defRPr sz="1500" b="0" i="1">
                <a:solidFill>
                  <a:srgbClr val="CBD5E1"/>
                </a:solidFill>
                <a:latin typeface="Calibri"/>
              </a:defRPr>
            </a:pPr>
            <a:r>
              <a:t>Permettre aux firmes de conseil de valoriser leurs consultants disponibles</a:t>
            </a:r>
          </a:p>
          <a:p>
            <a:pPr algn="l">
              <a:spcAft>
                <a:spcPts val="4000"/>
              </a:spcAft>
              <a:defRPr sz="1500" b="0" i="1">
                <a:solidFill>
                  <a:srgbClr val="CBD5E1"/>
                </a:solidFill>
                <a:latin typeface="Calibri"/>
              </a:defRPr>
            </a:pPr>
            <a:r>
              <a:t>et aux entreprises de trouver immédiatement les experts dont elles ont besoin.</a:t>
            </a:r>
          </a:p>
          <a:p>
            <a:pPr algn="l"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Présentation Investisseur  | 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2563EB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600" b="1" i="0">
                <a:solidFill>
                  <a:srgbClr val="0E1A3A"/>
                </a:solidFill>
                <a:latin typeface="Georgia"/>
              </a:defRPr>
            </a:pPr>
            <a:r>
              <a:t>Un marché de 50 milliards $ sans plateforme dédiée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 i="1">
                <a:solidFill>
                  <a:srgbClr val="64748B"/>
                </a:solidFill>
                <a:latin typeface="Calibri"/>
              </a:defRPr>
            </a:pPr>
            <a:r>
              <a:t>Le staffing ERP repose encore sur le bouche-à-oreille, les emails et les réseaux personnels.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4864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0E1A3A"/>
                </a:solidFill>
                <a:latin typeface="Georgia"/>
              </a:defRPr>
            </a:pPr>
            <a:r>
              <a:t>Des ressources inactives</a:t>
            </a:r>
            <a:br/>
            <a:r>
              <a:t>qui coûtent 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Les firmes de conseil ont en permanence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27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des consultants qualifiés qui ne sont 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741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affectés à un projet. Ces ressources 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210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facturables pèsent directement sur 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67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marges de l'entreprise.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011680"/>
            <a:ext cx="54864" cy="320040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1488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0E1A3A"/>
                </a:solidFill>
                <a:latin typeface="Georgia"/>
              </a:defRPr>
            </a:pPr>
            <a:r>
              <a:t>Des projets retardés</a:t>
            </a:r>
            <a:br/>
            <a:r>
              <a:t>par manque de ressources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De l'autre côté, des entreprises ont 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127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projets ERP urgents mais ne trouvent pas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3741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les bons profils. Elles perdent des semaines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6210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à chercher via leurs réseaux, parfois sans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867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résultat.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011680"/>
            <a:ext cx="3383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2011680"/>
            <a:ext cx="54864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1488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 i="0">
                <a:solidFill>
                  <a:srgbClr val="0E1A3A"/>
                </a:solidFill>
                <a:latin typeface="Georgia"/>
              </a:defRPr>
            </a:pPr>
            <a:r>
              <a:t>Aucun outil centralisé</a:t>
            </a:r>
            <a:br/>
            <a:r>
              <a:t>pour le staffing ERP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LinkedIn est trop généraliste. Les job 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127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ne sont pas conçus pour le B2B. Les réseaux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3741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informels restent opaques. Il n'existe aucune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6210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plateforme spécialisée pour connecter l'offre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8679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64748B"/>
                </a:solidFill>
                <a:latin typeface="Calibri"/>
              </a:defRPr>
            </a:pPr>
            <a:r>
              <a:t>et la demande en staffing ERP.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solidFill>
            <a:srgbClr val="0E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66928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Le marché mondial du conseil et des services ERP dépasse les 50 milliards $. Le staffing représente une part majeure de cette dépense — et il est encore géré de manière artisanale.</a:t>
            </a:r>
          </a:p>
          <a:p>
            <a:pPr algn="l">
              <a:spcAft>
                <a:spcPts val="0"/>
              </a:spcAft>
              <a:defRPr sz="900" b="0" i="1">
                <a:solidFill>
                  <a:srgbClr val="64748B"/>
                </a:solidFill>
                <a:latin typeface="Calibri"/>
              </a:defRPr>
            </a:pPr>
            <a:r>
              <a:t>Sources : Gartner, IDC — Marché ERP Services &amp; Consulting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DBEAFE"/>
                </a:solidFill>
                <a:latin typeface="Calibri"/>
              </a:defRPr>
            </a:pPr>
            <a:r>
              <a:t>LA PROPOSITION DE VALEUR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Chaque consultant inactif est une opportunité perdue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029200" cy="4206240"/>
          </a:xfrm>
          <a:prstGeom prst="rect">
            <a:avLst/>
          </a:prstGeom>
          <a:solidFill>
            <a:srgbClr val="14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4206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 i="0">
                <a:solidFill>
                  <a:srgbClr val="EF4444"/>
                </a:solidFill>
                <a:latin typeface="Georgia"/>
              </a:defRPr>
            </a:pPr>
            <a:r>
              <a:t>La réalité du marché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Un consultant non affecté coûte en moyenne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0662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5 000 à 15 000 $ par mois à sa firme en salaire,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443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charges et avantages sociaux — sans générer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821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aucun revenu.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958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En parallèle, une entreprise qui lance un 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673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ERP et ne trouve pas de ressource qualifiée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05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accumule des retards qui lui coûtent bien plus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4281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dépassements budgétaires, échéances manquées,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pertes opérationnelles.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280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Ces deux problèmes ont la même solution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657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CBD5E1"/>
                </a:solidFill>
                <a:latin typeface="Calibri"/>
              </a:defRPr>
            </a:pPr>
            <a:r>
              <a:t>une mise en relation efficace et immédiate.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5212080" cy="4206240"/>
          </a:xfrm>
          <a:prstGeom prst="rect">
            <a:avLst/>
          </a:prstGeom>
          <a:solidFill>
            <a:srgbClr val="14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828800"/>
            <a:ext cx="73152" cy="420624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 i="0">
                <a:solidFill>
                  <a:srgbClr val="059F69"/>
                </a:solidFill>
                <a:latin typeface="Georgia"/>
              </a:defRPr>
            </a:pPr>
            <a:r>
              <a:t>Avec ExpertERP : 3 gagnants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514600"/>
            <a:ext cx="91440" cy="9144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La firme qui place ses consultants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7432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CBD5E1"/>
                </a:solidFill>
                <a:latin typeface="Calibri"/>
              </a:defRPr>
            </a:pPr>
            <a:r>
              <a:t>Ses ressources inactives génèrent du revenu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95351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CBD5E1"/>
                </a:solidFill>
                <a:latin typeface="Calibri"/>
              </a:defRPr>
            </a:pPr>
            <a:r>
              <a:t>au lieu de représenter un coût. Elle élargit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1638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CBD5E1"/>
                </a:solidFill>
                <a:latin typeface="Calibri"/>
              </a:defRPr>
            </a:pPr>
            <a:r>
              <a:t>son réseau de clients potentiels et optimise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7413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CBD5E1"/>
                </a:solidFill>
                <a:latin typeface="Calibri"/>
              </a:defRPr>
            </a:pPr>
            <a:r>
              <a:t>son taux d'utilisation.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566160"/>
            <a:ext cx="91440" cy="9144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L'entreprise qui cherche un expert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947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CBD5E1"/>
                </a:solidFill>
                <a:latin typeface="Calibri"/>
              </a:defRPr>
            </a:pPr>
            <a:r>
              <a:t>Elle accède immédiatement à un bassin 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050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CBD5E1"/>
                </a:solidFill>
                <a:latin typeface="Calibri"/>
              </a:defRPr>
            </a:pPr>
            <a:r>
              <a:t>consultants qualifiés, filtrés par ERP et par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21538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CBD5E1"/>
                </a:solidFill>
                <a:latin typeface="Calibri"/>
              </a:defRPr>
            </a:pPr>
            <a:r>
              <a:t>compétence. Plus de semaines perdues 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42569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CBD5E1"/>
                </a:solidFill>
                <a:latin typeface="Calibri"/>
              </a:defRPr>
            </a:pPr>
            <a:r>
              <a:t>chercher dans le vide.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617720"/>
            <a:ext cx="91440" cy="9144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Le consultant lui-même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8463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CBD5E1"/>
                </a:solidFill>
                <a:latin typeface="Calibri"/>
              </a:defRPr>
            </a:pPr>
            <a:r>
              <a:t>Continuité de missions, diversité d'expériences,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0566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CBD5E1"/>
                </a:solidFill>
                <a:latin typeface="Calibri"/>
              </a:defRPr>
            </a:pPr>
            <a:r>
              <a:t>visibilité accrue. Il reste actif et continue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2669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0">
                <a:solidFill>
                  <a:srgbClr val="CBD5E1"/>
                </a:solidFill>
                <a:latin typeface="Calibri"/>
              </a:defRPr>
            </a:pPr>
            <a:r>
              <a:t>de développer son expertise.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2563EB"/>
                </a:solidFill>
                <a:latin typeface="Calibri"/>
              </a:defRPr>
            </a:pPr>
            <a:r>
              <a:t>NOTRE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 i="0">
                <a:solidFill>
                  <a:srgbClr val="0E1A3A"/>
                </a:solidFill>
                <a:latin typeface="Georgia"/>
              </a:defRPr>
            </a:pPr>
            <a:r>
              <a:t>ExpertERP — L'annuaire premium du staffing ERP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 i="1">
                <a:solidFill>
                  <a:srgbClr val="64748B"/>
                </a:solidFill>
                <a:latin typeface="Calibri"/>
              </a:defRPr>
            </a:pPr>
            <a:r>
              <a:t>Une plateforme B2B qui connecte trois acteurs clés de l'écosystème ERP 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4864" cy="3017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E1A3A"/>
                </a:solidFill>
                <a:latin typeface="Georgia"/>
              </a:defRPr>
            </a:pPr>
            <a:r>
              <a:t>Consultants freelances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Inscription par code d'invitation sélectif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Profil enrichi : ERP, tâches, expériences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Résumé professionnel généré automatiquement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Visibilité directe auprès des décideurs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338328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103120"/>
            <a:ext cx="54864" cy="301752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E1A3A"/>
                </a:solidFill>
                <a:latin typeface="Georgia"/>
              </a:defRPr>
            </a:pPr>
            <a:r>
              <a:t>Entreprises en recherche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Accès à un annuaire complet et qualifié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Filtres avancés : ERP, ville, tarif, dispo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337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Profils détaillés avec parcours complet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Messagerie directe et sécurisée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103120"/>
            <a:ext cx="338328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103120"/>
            <a:ext cx="54864" cy="3017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240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 i="0">
                <a:solidFill>
                  <a:srgbClr val="0E1A3A"/>
                </a:solidFill>
                <a:latin typeface="Georgia"/>
              </a:defRPr>
            </a:pPr>
            <a:r>
              <a:t>Firmes de conseil partenaires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97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Import de profils consultants via Excel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017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Placement de leurs ressources disponibles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337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Accès aux ressources des autres firmes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✓  Tableau de bord de suivi et pilotage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solidFill>
            <a:srgbClr val="0E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5778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Chaque acteur dispose d'un tableau de bord dédié pour gérer ses ressources, suivre les statuts en temps réel et piloter son activité en toute autonomie.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DBEAFE"/>
                </a:solidFill>
                <a:latin typeface="Calibri"/>
              </a:defRPr>
            </a:pPr>
            <a:r>
              <a:t>COMMENT ÇA 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3 parcours, 1 plateforme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9728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Consultant freelance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1. Reçoit un code d'invitation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877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2. Crée son profil : ERP maîtrisés, tâches,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35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   certifications, expériences détaillées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82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3. La plateforme génère automatiquement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   un résumé professionnel structuré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77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4. Son profil est visible dans l'annuaire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25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   pour toutes les entreprises inscrites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109728" cy="109728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Entreprise en recherche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1. S'inscrit sur la plateforme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877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2. Accède à l'annuaire complet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35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   freelances + consultants de firmes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282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3. Filtre par ERP, compétence, ville,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   disponibilité et tarif journalier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977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4. Contacte directement les consultants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325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   via la messagerie intégrée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78308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Firme de conseil partenaire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1. S'inscrit comme entreprise partenaire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5877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2. Importe ses consultants disponibles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9352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   via un modèle Excel prêt à l'emploi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2826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3. Ses ressources apparaissent dans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630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   l'annuaire réservé aux entreprises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977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4. Accède aussi aux profils des autres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325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CBD5E1"/>
                </a:solidFill>
                <a:latin typeface="Calibri"/>
              </a:defRPr>
            </a:pPr>
            <a:r>
              <a:t>   firmes pour ses propres besoins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2563EB"/>
                </a:solidFill>
                <a:latin typeface="Calibri"/>
              </a:defRPr>
            </a:pPr>
            <a:r>
              <a:t>L'EXPÉRIENCE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 i="0">
                <a:solidFill>
                  <a:srgbClr val="0E1A3A"/>
                </a:solidFill>
                <a:latin typeface="Georgia"/>
              </a:defRPr>
            </a:pPr>
            <a:r>
              <a:t>Un tableau de bord complet pour chaque acteur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 i="1">
                <a:solidFill>
                  <a:srgbClr val="64748B"/>
                </a:solidFill>
                <a:latin typeface="Calibri"/>
              </a:defRPr>
            </a:pPr>
            <a:r>
              <a:t>Chaque utilisateur dispose d'un espace personnalisé pour gérer son activité en toute autonomie — sans formation, sans outil externe.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1206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51206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E1A3A"/>
                </a:solidFill>
                <a:latin typeface="Georgia"/>
              </a:defRPr>
            </a:pPr>
            <a:r>
              <a:t>Tableau de bord Entreprise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Vue d'ensemble de toutes les ressources disponibles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Suivi en temps réel : en mission, disponible, en attente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Messagerie intégrée pour contacter les consultants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Import et gestion de profils consultants via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Filtres avancés pour cibler le bon profil rapidement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Historique complet des mises en relation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103120"/>
            <a:ext cx="512064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5120640" cy="54864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 i="0">
                <a:solidFill>
                  <a:srgbClr val="0E1A3A"/>
                </a:solidFill>
                <a:latin typeface="Georgia"/>
              </a:defRPr>
            </a:pPr>
            <a:r>
              <a:t>Tableau de bord Consultant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Gestion complète du profil professionnel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54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Sélection des compétences ERP et tâches maîtrisées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Ajout d'expériences détaillées par 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Génération automatique du résumé professionnel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Mise à jour de la disponibilité et du tarif journalier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334155"/>
                </a:solidFill>
                <a:latin typeface="Calibri"/>
              </a:defRPr>
            </a:pPr>
            <a:r>
              <a:t>✓  Visibilité sur les consultations de son profil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0E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585216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0"/>
              </a:spcAft>
              <a:defRPr sz="1150" b="0" i="0">
                <a:solidFill>
                  <a:srgbClr val="FFFFFF"/>
                </a:solidFill>
                <a:latin typeface="Calibri"/>
              </a:defRPr>
            </a:pPr>
            <a:r>
              <a:t>Tableau de bord Administrateur — Validation des inscriptions, gestion des codes d'invitation, modération des profils et suivi de l'activité globale de la plateforme.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DBEAFE"/>
                </a:solidFill>
                <a:latin typeface="Calibri"/>
              </a:defRPr>
            </a:pPr>
            <a:r>
              <a:t>LES OPPORTUNITÉS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Ce que la plateforme rend possible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474720" cy="1737360"/>
          </a:xfrm>
          <a:prstGeom prst="rect">
            <a:avLst/>
          </a:prstGeom>
          <a:solidFill>
            <a:srgbClr val="14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" cy="173736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Réduction des coûts d'inactivité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Chaque consultant placé via la plateforme cesse d'être</a:t>
            </a:r>
            <a:br/>
            <a:r>
              <a:t>un coût et redevient une source de revenus pour sa firme.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28800"/>
            <a:ext cx="3474720" cy="1737360"/>
          </a:xfrm>
          <a:prstGeom prst="rect">
            <a:avLst/>
          </a:prstGeom>
          <a:solidFill>
            <a:srgbClr val="14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54864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Accès à un réseau inter-firmes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31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Pour la première fois, les firmes de conseil peuvent</a:t>
            </a:r>
            <a:br/>
            <a:r>
              <a:t>accéder aux ressources d'autres firmes — même concurrentes</a:t>
            </a:r>
            <a:br/>
            <a:r>
              <a:t>— dans un cadre confidentiel et structuré.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3474720" cy="1737360"/>
          </a:xfrm>
          <a:prstGeom prst="rect">
            <a:avLst/>
          </a:prstGeom>
          <a:solidFill>
            <a:srgbClr val="14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54864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965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Rapidité de mise en 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331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En quelques clics, une entreprise identifie le bon profil</a:t>
            </a:r>
            <a:br/>
            <a:r>
              <a:t>avec les bons ERP, les bonnes compétences et la bonne</a:t>
            </a:r>
            <a:br/>
            <a:r>
              <a:t>disponibilité. Plus de semaines perdues en recherche.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3474720" cy="1737360"/>
          </a:xfrm>
          <a:prstGeom prst="rect">
            <a:avLst/>
          </a:prstGeom>
          <a:solidFill>
            <a:srgbClr val="14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54864" cy="173736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Tarifs journaliers maîtrisés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43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La transparence des tarifs élimine les surcoûts</a:t>
            </a:r>
            <a:br/>
            <a:r>
              <a:t>d'intermédiation. Les entreprises voient le TJM réel</a:t>
            </a:r>
            <a:br/>
            <a:r>
              <a:t>du consultant, sans marge cachée de 40 à 60%.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840480"/>
            <a:ext cx="3474720" cy="1737360"/>
          </a:xfrm>
          <a:prstGeom prst="rect">
            <a:avLst/>
          </a:prstGeom>
          <a:solidFill>
            <a:srgbClr val="14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840480"/>
            <a:ext cx="54864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Continuité de mission pour les consultants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343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Les consultants restent actifs entre deux missions internes.</a:t>
            </a:r>
            <a:br/>
            <a:r>
              <a:t>Moins de périodes creuses, plus de diversité d'expériences</a:t>
            </a:r>
            <a:br/>
            <a:r>
              <a:t>et une meilleure valorisation de leur parcours.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840480"/>
            <a:ext cx="3474720" cy="1737360"/>
          </a:xfrm>
          <a:prstGeom prst="rect">
            <a:avLst/>
          </a:prstGeom>
          <a:solidFill>
            <a:srgbClr val="14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840480"/>
            <a:ext cx="54864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Georgia"/>
              </a:defRPr>
            </a:pPr>
            <a:r>
              <a:t>Données et visibilité en temps réel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343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 i="0">
                <a:solidFill>
                  <a:srgbClr val="CBD5E1"/>
                </a:solidFill>
                <a:latin typeface="Calibri"/>
              </a:defRPr>
            </a:pPr>
            <a:r>
              <a:t>Les tableaux de bord offrent une vue complète : qui est</a:t>
            </a:r>
            <a:br/>
            <a:r>
              <a:t>disponible, depuis quand, à quel tarif, avec quelles</a:t>
            </a:r>
            <a:br/>
            <a:r>
              <a:t>compétences. Une aide à la décision immédiate.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2563EB"/>
                </a:solidFill>
                <a:latin typeface="Calibri"/>
              </a:defRPr>
            </a:pPr>
            <a:r>
              <a:t>AVANTAGE CONCURRENTIEL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 i="0">
                <a:solidFill>
                  <a:srgbClr val="0E1A3A"/>
                </a:solidFill>
                <a:latin typeface="Georgia"/>
              </a:defRPr>
            </a:pPr>
            <a:r>
              <a:t>Ce qui nous distingue de la concurrence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 i="1">
                <a:solidFill>
                  <a:srgbClr val="64748B"/>
                </a:solidFill>
                <a:latin typeface="Calibri"/>
              </a:defRPr>
            </a:pPr>
            <a:r>
              <a:t>ExpertERP est la seule plateforme 100% dédiée au staffing ERP en mode B2B.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698480" cy="502920"/>
          </a:xfrm>
          <a:prstGeom prst="rect">
            <a:avLst/>
          </a:prstGeom>
          <a:solidFill>
            <a:srgbClr val="0E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Critère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08483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Grandes firmes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8483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LinkedIn / Job 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08483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ExpertERP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87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E1A3A"/>
                </a:solidFill>
                <a:latin typeface="Calibri"/>
              </a:defRPr>
            </a:pPr>
            <a:r>
              <a:t>Délai de staffing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8775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2-4 semaines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8775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Variable, non garanti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8775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59F69"/>
                </a:solidFill>
                <a:latin typeface="Calibri"/>
              </a:defRPr>
            </a:pPr>
            <a:r>
              <a:t>&lt; 48h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44952"/>
            <a:ext cx="1069848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1181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E1A3A"/>
                </a:solidFill>
                <a:latin typeface="Calibri"/>
              </a:defRPr>
            </a:pPr>
            <a:r>
              <a:t>Marge d'intermédiaire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18104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20-40% du TJM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118104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Aucune visibilité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118104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59F69"/>
                </a:solidFill>
                <a:latin typeface="Calibri"/>
              </a:defRPr>
            </a:pPr>
            <a:r>
              <a:t>0% — contact direct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75304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484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E1A3A"/>
                </a:solidFill>
                <a:latin typeface="Calibri"/>
              </a:defRPr>
            </a:pPr>
            <a:r>
              <a:t>Spécialisation ERP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648456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Généraliste / multi-secteur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648456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Aucune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648456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59F69"/>
                </a:solidFill>
                <a:latin typeface="Calibri"/>
              </a:defRPr>
            </a:pPr>
            <a:r>
              <a:t>100% ERP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05655"/>
            <a:ext cx="1069848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7880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E1A3A"/>
                </a:solidFill>
                <a:latin typeface="Calibri"/>
              </a:defRPr>
            </a:pPr>
            <a:r>
              <a:t>Accès aux ressources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178807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Réseau fermé / interne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178807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Profils publics non filtrés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178807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59F69"/>
                </a:solidFill>
                <a:latin typeface="Calibri"/>
              </a:defRPr>
            </a:pPr>
            <a:r>
              <a:t>Annuaire B2B confidentiel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636008"/>
            <a:ext cx="10698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E1A3A"/>
                </a:solidFill>
                <a:latin typeface="Calibri"/>
              </a:defRPr>
            </a:pPr>
            <a:r>
              <a:t>Visibilité sur la dispo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70916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Appels et emails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70916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Aucune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4709160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59F69"/>
                </a:solidFill>
                <a:latin typeface="Calibri"/>
              </a:defRPr>
            </a:pPr>
            <a:r>
              <a:t>Temps réel via 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166360"/>
            <a:ext cx="1069848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2395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E1A3A"/>
                </a:solidFill>
                <a:latin typeface="Calibri"/>
              </a:defRPr>
            </a:pPr>
            <a:r>
              <a:t>Placement inter-firmes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23951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Inexistant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23951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Inexistant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5239512"/>
            <a:ext cx="2468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 i="0">
                <a:solidFill>
                  <a:srgbClr val="059F69"/>
                </a:solidFill>
                <a:latin typeface="Calibri"/>
              </a:defRPr>
            </a:pPr>
            <a:r>
              <a:t>Fonctionnalité native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2563EB"/>
                </a:solidFill>
                <a:latin typeface="Calibri"/>
              </a:defRPr>
            </a:pPr>
            <a:r>
              <a:t>TRACTION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 i="0">
                <a:solidFill>
                  <a:srgbClr val="0E1A3A"/>
                </a:solidFill>
                <a:latin typeface="Georgia"/>
              </a:defRPr>
            </a:pPr>
            <a:r>
              <a:t>Où nous en sommes et où nous allons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 i="0">
                <a:solidFill>
                  <a:srgbClr val="0E1A3A"/>
                </a:solidFill>
                <a:latin typeface="Georgia"/>
              </a:defRPr>
            </a:pPr>
            <a:r>
              <a:t>Aujourd'hui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73152" cy="22860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E1A3A"/>
                </a:solidFill>
                <a:latin typeface="Calibri"/>
              </a:defRPr>
            </a:pPr>
            <a:r>
              <a:t>Plateforme live et fonctionnelle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9631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expert-erp.vercel.app — accessible publiquement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73152" cy="22860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E1A3A"/>
                </a:solidFill>
                <a:latin typeface="Calibri"/>
              </a:defRPr>
            </a:pPr>
            <a:r>
              <a:t>2 firmes de conseil partenaires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9067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Nexia Conseil (SAP/Oracle) + StratERP Solutions (Dynamics/Workday)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73152" cy="22860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E1A3A"/>
                </a:solidFill>
                <a:latin typeface="Calibri"/>
              </a:defRPr>
            </a:pPr>
            <a:r>
              <a:t>10+ consultants référencés par des firmes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8503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Profils importés via Excel avec compétences détaillées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73152" cy="22860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E1A3A"/>
                </a:solidFill>
                <a:latin typeface="Calibri"/>
              </a:defRPr>
            </a:pPr>
            <a:r>
              <a:t>12+ consultants freelances actifs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7939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Profils créés via le formulaire d'inscription sélectif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73152" cy="228600"/>
          </a:xfrm>
          <a:prstGeom prst="rect">
            <a:avLst/>
          </a:prstGeom>
          <a:solidFill>
            <a:srgbClr val="059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E1A3A"/>
                </a:solidFill>
                <a:latin typeface="Calibri"/>
              </a:defRPr>
            </a:pPr>
            <a:r>
              <a:t>Infrastructure de facturation prête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737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 i="1">
                <a:solidFill>
                  <a:srgbClr val="64748B"/>
                </a:solidFill>
                <a:latin typeface="Calibri"/>
              </a:defRPr>
            </a:pPr>
            <a:r>
              <a:t>Intégration Stripe configurée, activation prochaine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 i="0">
                <a:solidFill>
                  <a:srgbClr val="0E1A3A"/>
                </a:solidFill>
                <a:latin typeface="Georgia"/>
              </a:defRPr>
            </a:pPr>
            <a:r>
              <a:t>Prochaines étapes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86000"/>
            <a:ext cx="73152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2563EB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2240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E1A3A"/>
                </a:solidFill>
                <a:latin typeface="Calibri"/>
              </a:defRPr>
            </a:pPr>
            <a:r>
              <a:t>Lancement commercial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146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1">
                <a:solidFill>
                  <a:srgbClr val="64748B"/>
                </a:solidFill>
                <a:latin typeface="Calibri"/>
              </a:defRPr>
            </a:pPr>
            <a:r>
              <a:t>Objectif : 10 firmes de conseil partenaires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971800"/>
            <a:ext cx="73152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2563EB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926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E1A3A"/>
                </a:solidFill>
                <a:latin typeface="Calibri"/>
              </a:defRPr>
            </a:pPr>
            <a:r>
              <a:t>Monétisation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2004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1">
                <a:solidFill>
                  <a:srgbClr val="64748B"/>
                </a:solidFill>
                <a:latin typeface="Calibri"/>
              </a:defRPr>
            </a:pPr>
            <a:r>
              <a:t>Activation des abonnements payants via Stripe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657600"/>
            <a:ext cx="73152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611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2563EB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611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E1A3A"/>
                </a:solidFill>
                <a:latin typeface="Calibri"/>
              </a:defRPr>
            </a:pPr>
            <a:r>
              <a:t>Automatisation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8862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1">
                <a:solidFill>
                  <a:srgbClr val="64748B"/>
                </a:solidFill>
                <a:latin typeface="Calibri"/>
              </a:defRPr>
            </a:pPr>
            <a:r>
              <a:t>API partenaire, intégrations SI, import automatisé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343400"/>
            <a:ext cx="73152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297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2563EB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 i="0">
                <a:solidFill>
                  <a:srgbClr val="0E1A3A"/>
                </a:solidFill>
                <a:latin typeface="Calibri"/>
              </a:defRPr>
            </a:pPr>
            <a:r>
              <a:t>Expansion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572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  <a:defRPr sz="1050" b="0" i="1">
                <a:solidFill>
                  <a:srgbClr val="64748B"/>
                </a:solidFill>
                <a:latin typeface="Calibri"/>
              </a:defRPr>
            </a:pPr>
            <a:r>
              <a:t>Marchés US/EU, application mobile, IA de matching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3200400"/>
            <a:ext cx="4572000" cy="4572000"/>
          </a:xfrm>
          <a:prstGeom prst="ellipse">
            <a:avLst/>
          </a:prstGeom>
          <a:solidFill>
            <a:srgbClr val="14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800" b="1" i="0">
                <a:solidFill>
                  <a:srgbClr val="FFFFFF"/>
                </a:solidFill>
                <a:latin typeface="Georgia"/>
              </a:defRPr>
            </a:pPr>
            <a:r>
              <a:t>Le staffing ERP mérite</a:t>
            </a:r>
          </a:p>
          <a:p>
            <a:pPr algn="l">
              <a:spcAft>
                <a:spcPts val="2400"/>
              </a:spcAft>
              <a:defRPr sz="3800" b="1" i="0">
                <a:solidFill>
                  <a:srgbClr val="DBEAFE"/>
                </a:solidFill>
                <a:latin typeface="Georgia"/>
              </a:defRPr>
            </a:pPr>
            <a:r>
              <a:t>sa propre plateforme.</a:t>
            </a:r>
          </a:p>
          <a:p>
            <a:pPr algn="l">
              <a:spcAft>
                <a:spcPts val="400"/>
              </a:spcAft>
              <a:defRPr sz="1600" b="0" i="0">
                <a:solidFill>
                  <a:srgbClr val="CBD5E1"/>
                </a:solidFill>
                <a:latin typeface="Calibri"/>
              </a:defRPr>
            </a:pPr>
            <a:r>
              <a:t>ExpertERP transforme un marché de 50 milliards $ encore géré</a:t>
            </a:r>
          </a:p>
          <a:p>
            <a:pPr algn="l">
              <a:spcAft>
                <a:spcPts val="400"/>
              </a:spcAft>
              <a:defRPr sz="1600" b="0" i="0">
                <a:solidFill>
                  <a:srgbClr val="CBD5E1"/>
                </a:solidFill>
                <a:latin typeface="Calibri"/>
              </a:defRPr>
            </a:pPr>
            <a:r>
              <a:t>par emails et bouche-à-oreille en une plateforme unifiée,</a:t>
            </a:r>
          </a:p>
          <a:p>
            <a:pPr algn="l">
              <a:spcAft>
                <a:spcPts val="3000"/>
              </a:spcAft>
              <a:defRPr sz="1600" b="0" i="0">
                <a:solidFill>
                  <a:srgbClr val="CBD5E1"/>
                </a:solidFill>
                <a:latin typeface="Calibri"/>
              </a:defRPr>
            </a:pPr>
            <a:r>
              <a:t>transparente et immédiatement opérationnelle.</a:t>
            </a:r>
          </a:p>
          <a:p>
            <a:pPr algn="l">
              <a:spcAft>
                <a:spcPts val="40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Sofiane Hmiyou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DBEAFE"/>
                </a:solidFill>
                <a:latin typeface="Calibri"/>
              </a:defRPr>
            </a:pPr>
            <a:r>
              <a:t>Fondateur — ExpertERP</a:t>
            </a:r>
          </a:p>
          <a:p>
            <a:pPr algn="l">
              <a:spcAft>
                <a:spcPts val="0"/>
              </a:spcAft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sofianehmiyou9@gmail.com  |  experterp.ca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